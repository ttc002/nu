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3F30D-CD68-4E05-A34C-F9D04FD15779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92A83-5620-43E1-A63D-9C55BB034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13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2A83-5620-43E1-A63D-9C55BB03497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4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552EB-5BF6-44EF-A2FF-49B2C1515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B94018-A624-456F-9F77-A95B69157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886CA7-AB2A-460F-A144-9F5507EC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1611E7-D397-438E-9907-A6A11CB1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CA571D-E65D-46BC-8E8B-E860152E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32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B6521-D05E-40C4-9723-B4867291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A84E13-7E46-42E4-B270-6FE156E4B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112B0B-3901-4297-969F-7AA99BC1E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240732-91D6-495C-BDAF-F97521AD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FCE860-A41F-4A59-8F25-566C0BBA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19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A0CC4-949F-409C-A20D-75E4423A2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87B3BF-8639-4B7F-B4DE-79A0B2D6A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20233-4626-4599-B31A-E7C2B94E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0285CF-EEFF-46D2-8ACC-5FA53D229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DB15CC-9192-47C4-97C0-4D0F05E4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84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28002-88CA-4631-943A-EA51E839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14D07D-82D6-4893-876B-3673A63AF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DAE3BC-352F-4101-A6D5-376FB3DDA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831DF3-81CF-49B9-A58E-CC4470B0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02FDA4-8648-4C28-96D5-75AD21E7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6517EB-1849-4F1B-9091-F9B8B8AEC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1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76427-A697-4DEB-9A7B-A40ABB97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5FB0E-CF66-4801-B0CC-645C9646F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1D55F0-2728-4C6F-A316-4B4AFD289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F934D5-6CD4-4D2D-BCE0-07EA181DB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69D1E8-8F45-4274-BF48-41E5AD12E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4A0B623-8E1A-4246-BDDE-405D59A3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2BC910-4B0B-46DA-8AE9-D3D65B5E6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7CB32B-74E4-4627-A411-A671A84D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64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86ABC-143F-46AB-A4DF-F9BF75BAE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5ACD6F-6DBC-4495-8066-1BA5262F8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F93217-C974-4989-88B1-572B5C63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4FD8B8-0D64-43EC-959D-9A595CE0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40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9DE33B6-37BE-4334-80AE-85A46FC3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202369F-B856-4561-9200-80110028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856FEA-2323-4A75-8CB5-73102ADA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738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1CF6C-DE8F-4764-BC95-9F12EEB1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4F3E10-F05B-4FF3-9D0A-AA83F97E1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6DDA8A-3837-42C4-9F79-45389D612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2B0608-BFAB-4104-9A9F-8B1A6D85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10C8A9-D183-4F04-8EE0-A6A966FA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43D5EE-1BB8-40C1-A249-2676039E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81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58C8A-1FCF-4682-825D-38E0662E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6D45D9-F53A-48EC-84F5-C2F2BBAB7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0018C4-BC83-4BCF-B39C-F6742E28C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1708A1-FF8C-424D-8CF7-776BDD11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CA175A-D7A4-47C6-A5B6-8351CE7A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635B32-36F3-494A-A422-8C3AC899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26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7C9F-055D-4261-A596-1D9DF935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607E15-3701-41E6-B82B-393829924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CAEEC-115B-4A64-9A97-D147D1F6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C0697D-DB81-428D-8948-5B4546EE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2488E6-A7CE-46E6-B459-B9D90AD3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783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D27087B-830D-49CF-98BA-FE6C138DE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BFC265-12B3-4524-B93C-B26D944B3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EC6227-3490-4427-8393-9511C3BA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A65C0F-17B3-4824-830F-8985B0F2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890276-6421-4615-994F-FEAC9D94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6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6B162-1C7C-43F8-A2C4-0E84B27D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215E4C-D446-4344-9B4F-0D3E6B5B2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4638BF-6D62-4BC5-9370-4FF9175C5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E5DAB-8603-4EE8-82B0-7724AB25700F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9DF9A7-CE1C-42FD-8820-3DA044954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2D037-8B59-4437-974D-416E6E1BB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1624-6C7F-43C6-9407-01F452036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9B8056-1C09-4B1D-8C5B-A5F91E127558}"/>
              </a:ext>
            </a:extLst>
          </p:cNvPr>
          <p:cNvSpPr txBox="1"/>
          <p:nvPr/>
        </p:nvSpPr>
        <p:spPr>
          <a:xfrm>
            <a:off x="345833" y="3354766"/>
            <a:ext cx="164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Базовая ставка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0763F2-A677-4EDF-8E22-895C91088F0D}"/>
              </a:ext>
            </a:extLst>
          </p:cNvPr>
          <p:cNvSpPr txBox="1"/>
          <p:nvPr/>
        </p:nvSpPr>
        <p:spPr>
          <a:xfrm>
            <a:off x="301846" y="3731828"/>
            <a:ext cx="2099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Фактическая ставка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78AAFD-FF3B-49E6-989F-CF9E77D22B72}"/>
              </a:ext>
            </a:extLst>
          </p:cNvPr>
          <p:cNvSpPr txBox="1"/>
          <p:nvPr/>
        </p:nvSpPr>
        <p:spPr>
          <a:xfrm>
            <a:off x="333674" y="1527929"/>
            <a:ext cx="2396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Предполагаемый срок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D7147E-4BAA-4D7D-8310-4A455D30E4A4}"/>
              </a:ext>
            </a:extLst>
          </p:cNvPr>
          <p:cNvSpPr txBox="1"/>
          <p:nvPr/>
        </p:nvSpPr>
        <p:spPr>
          <a:xfrm>
            <a:off x="362547" y="2327688"/>
            <a:ext cx="1906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Стоимость залога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CF537D-4EC9-4064-803F-D4CB4DBD6866}"/>
              </a:ext>
            </a:extLst>
          </p:cNvPr>
          <p:cNvSpPr txBox="1"/>
          <p:nvPr/>
        </p:nvSpPr>
        <p:spPr>
          <a:xfrm>
            <a:off x="330211" y="2697016"/>
            <a:ext cx="2271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Предполагаемый К/З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9ABAFE-B603-4C2F-B19E-63F81DFA1FB8}"/>
              </a:ext>
            </a:extLst>
          </p:cNvPr>
          <p:cNvSpPr txBox="1"/>
          <p:nvPr/>
        </p:nvSpPr>
        <p:spPr>
          <a:xfrm>
            <a:off x="345833" y="4144200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Нестандарт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269D6D-CF3F-46C8-AADA-242EC42C1235}"/>
              </a:ext>
            </a:extLst>
          </p:cNvPr>
          <p:cNvSpPr txBox="1"/>
          <p:nvPr/>
        </p:nvSpPr>
        <p:spPr>
          <a:xfrm>
            <a:off x="362547" y="5418498"/>
            <a:ext cx="1786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Особые условия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3B5DCA-9C1E-42B9-B454-A2E18279D846}"/>
              </a:ext>
            </a:extLst>
          </p:cNvPr>
          <p:cNvSpPr txBox="1"/>
          <p:nvPr/>
        </p:nvSpPr>
        <p:spPr>
          <a:xfrm>
            <a:off x="4147047" y="1879200"/>
            <a:ext cx="1783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Тарифы и опции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97E5BE-3407-4734-A981-0D268F6E4C71}"/>
              </a:ext>
            </a:extLst>
          </p:cNvPr>
          <p:cNvSpPr txBox="1"/>
          <p:nvPr/>
        </p:nvSpPr>
        <p:spPr>
          <a:xfrm>
            <a:off x="333674" y="521887"/>
            <a:ext cx="2380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Кредитная программа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77F5A8-B65F-4379-A1B9-3D6CC7D46651}"/>
              </a:ext>
            </a:extLst>
          </p:cNvPr>
          <p:cNvSpPr txBox="1"/>
          <p:nvPr/>
        </p:nvSpPr>
        <p:spPr>
          <a:xfrm>
            <a:off x="330211" y="5001181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Превышение ПСК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9FFC1D-0015-49DE-ACAC-9109E3B3C25E}"/>
              </a:ext>
            </a:extLst>
          </p:cNvPr>
          <p:cNvSpPr txBox="1"/>
          <p:nvPr/>
        </p:nvSpPr>
        <p:spPr>
          <a:xfrm>
            <a:off x="330211" y="897784"/>
            <a:ext cx="2103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Цель кредитования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98BF5C-618E-4647-AAE0-A0A0533EB287}"/>
              </a:ext>
            </a:extLst>
          </p:cNvPr>
          <p:cNvSpPr txBox="1"/>
          <p:nvPr/>
        </p:nvSpPr>
        <p:spPr>
          <a:xfrm>
            <a:off x="333674" y="187622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Номер заявки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F320FE-435A-4A36-97BA-2B071E048D37}"/>
              </a:ext>
            </a:extLst>
          </p:cNvPr>
          <p:cNvSpPr/>
          <p:nvPr/>
        </p:nvSpPr>
        <p:spPr>
          <a:xfrm>
            <a:off x="3618343" y="92724"/>
            <a:ext cx="1608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Дата создания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6F1614-D925-487D-BF9C-48383B5027E1}"/>
              </a:ext>
            </a:extLst>
          </p:cNvPr>
          <p:cNvSpPr txBox="1"/>
          <p:nvPr/>
        </p:nvSpPr>
        <p:spPr>
          <a:xfrm>
            <a:off x="330211" y="5756073"/>
            <a:ext cx="2989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Информация о мат капитале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38684F-3C6B-4240-9F45-59CC8530F844}"/>
              </a:ext>
            </a:extLst>
          </p:cNvPr>
          <p:cNvSpPr txBox="1"/>
          <p:nvPr/>
        </p:nvSpPr>
        <p:spPr>
          <a:xfrm>
            <a:off x="6248732" y="1196464"/>
            <a:ext cx="3489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Комментарий принявшего заявку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1D563E-C3C6-4D3D-A6BE-623B49C88F72}"/>
              </a:ext>
            </a:extLst>
          </p:cNvPr>
          <p:cNvSpPr txBox="1"/>
          <p:nvPr/>
        </p:nvSpPr>
        <p:spPr>
          <a:xfrm>
            <a:off x="289687" y="3025893"/>
            <a:ext cx="2314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Ежемесячный платеж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55BA10-186B-4A8F-87B6-2AD55681276A}"/>
              </a:ext>
            </a:extLst>
          </p:cNvPr>
          <p:cNvSpPr txBox="1"/>
          <p:nvPr/>
        </p:nvSpPr>
        <p:spPr>
          <a:xfrm>
            <a:off x="290963" y="4581083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Причина «Нестандарта»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EBA6C-69F7-4FB4-ACF9-CE83B3625BEA}"/>
              </a:ext>
            </a:extLst>
          </p:cNvPr>
          <p:cNvSpPr txBox="1"/>
          <p:nvPr/>
        </p:nvSpPr>
        <p:spPr>
          <a:xfrm>
            <a:off x="3698406" y="122951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УИД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1A53A1-5EA0-4DE4-8845-F8E2199AE9E3}"/>
              </a:ext>
            </a:extLst>
          </p:cNvPr>
          <p:cNvSpPr txBox="1"/>
          <p:nvPr/>
        </p:nvSpPr>
        <p:spPr>
          <a:xfrm>
            <a:off x="3557394" y="814048"/>
            <a:ext cx="2538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Дата изменения статуса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3AB05-1B82-4F0E-9988-500428245385}"/>
              </a:ext>
            </a:extLst>
          </p:cNvPr>
          <p:cNvSpPr txBox="1"/>
          <p:nvPr/>
        </p:nvSpPr>
        <p:spPr>
          <a:xfrm>
            <a:off x="6068569" y="490510"/>
            <a:ext cx="20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Принял документы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25D4F3-579F-4A4E-8557-84A22FAB801E}"/>
              </a:ext>
            </a:extLst>
          </p:cNvPr>
          <p:cNvSpPr txBox="1"/>
          <p:nvPr/>
        </p:nvSpPr>
        <p:spPr>
          <a:xfrm>
            <a:off x="6061740" y="128717"/>
            <a:ext cx="88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Создал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68536-C81B-4C82-9CF2-EE41B2F5AA00}"/>
              </a:ext>
            </a:extLst>
          </p:cNvPr>
          <p:cNvSpPr txBox="1"/>
          <p:nvPr/>
        </p:nvSpPr>
        <p:spPr>
          <a:xfrm>
            <a:off x="294882" y="1188899"/>
            <a:ext cx="243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Запрашиваемая сумма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5A3F0-970D-4B6C-B413-A0AB93C7740D}"/>
              </a:ext>
            </a:extLst>
          </p:cNvPr>
          <p:cNvSpPr txBox="1"/>
          <p:nvPr/>
        </p:nvSpPr>
        <p:spPr>
          <a:xfrm>
            <a:off x="362547" y="1907586"/>
            <a:ext cx="248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Первоначальный взнос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2F867-124C-4AC7-A014-2C97AA35E8FB}"/>
              </a:ext>
            </a:extLst>
          </p:cNvPr>
          <p:cNvSpPr txBox="1"/>
          <p:nvPr/>
        </p:nvSpPr>
        <p:spPr>
          <a:xfrm>
            <a:off x="4147047" y="2294670"/>
            <a:ext cx="76080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Тариф "Экономный«</a:t>
            </a:r>
          </a:p>
          <a:p>
            <a:r>
              <a:rPr lang="ru-RU" dirty="0"/>
              <a:t>ИП/ собственник бизнеса/Самозанятый</a:t>
            </a:r>
          </a:p>
          <a:p>
            <a:r>
              <a:rPr lang="ru-RU" dirty="0"/>
              <a:t>Зарплатный клиент</a:t>
            </a:r>
          </a:p>
          <a:p>
            <a:r>
              <a:rPr lang="ru-RU" dirty="0"/>
              <a:t>Коллективное страхование</a:t>
            </a:r>
          </a:p>
          <a:p>
            <a:r>
              <a:rPr lang="ru-RU" dirty="0"/>
              <a:t>Опция "Сотрудник" (</a:t>
            </a:r>
            <a:r>
              <a:rPr lang="en-US" dirty="0"/>
              <a:t>RUR)</a:t>
            </a:r>
            <a:endParaRPr lang="ru-RU" dirty="0"/>
          </a:p>
          <a:p>
            <a:r>
              <a:rPr lang="ru-RU" dirty="0"/>
              <a:t>Подтверждение дохода через Госуслуги</a:t>
            </a:r>
          </a:p>
          <a:p>
            <a:r>
              <a:rPr lang="ru-RU" dirty="0"/>
              <a:t>Предоставление минимального пакета документов</a:t>
            </a:r>
          </a:p>
          <a:p>
            <a:r>
              <a:rPr lang="ru-RU" dirty="0"/>
              <a:t>Наличие несогласуемой перепланировки (за исключением перепланировок, затрагивающих несущие конструкции и выходящих за пределы объекта недвижимости)</a:t>
            </a:r>
          </a:p>
          <a:p>
            <a:r>
              <a:rPr lang="ru-RU" dirty="0"/>
              <a:t>Непредоставление Закладной в Банк в течение шести месяцев с даты выдачи разрешения на ввод строительного объекта в эксплуатацию</a:t>
            </a:r>
          </a:p>
          <a:p>
            <a:r>
              <a:rPr lang="ru-RU" dirty="0"/>
              <a:t>Отмена страхования жизни и риска потери трудоспособности</a:t>
            </a:r>
          </a:p>
          <a:p>
            <a:r>
              <a:rPr lang="ru-RU" dirty="0"/>
              <a:t>Непредоставление Закладной в Банк в течение шести месяцев с даты выдачи разрешения на ввод строительного объекта в эксплуатацию</a:t>
            </a:r>
          </a:p>
          <a:p>
            <a:r>
              <a:rPr lang="ru-RU" dirty="0"/>
              <a:t>Отмена страхования титула передаваемого в залог имущества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DB054-D4ED-4A4D-856E-B7840EE59811}"/>
              </a:ext>
            </a:extLst>
          </p:cNvPr>
          <p:cNvSpPr txBox="1"/>
          <p:nvPr/>
        </p:nvSpPr>
        <p:spPr>
          <a:xfrm>
            <a:off x="7380738" y="185044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выбрана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A55787-14FF-48EB-B7F6-1FC7AE16D38E}"/>
              </a:ext>
            </a:extLst>
          </p:cNvPr>
          <p:cNvSpPr txBox="1"/>
          <p:nvPr/>
        </p:nvSpPr>
        <p:spPr>
          <a:xfrm>
            <a:off x="9869546" y="1850446"/>
            <a:ext cx="15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коэффициент</a:t>
            </a:r>
          </a:p>
        </p:txBody>
      </p:sp>
    </p:spTree>
    <p:extLst>
      <p:ext uri="{BB962C8B-B14F-4D97-AF65-F5344CB8AC3E}">
        <p14:creationId xmlns:p14="http://schemas.microsoft.com/office/powerpoint/2010/main" val="559211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2779A2-0506-40F0-A1D0-C8AEE3F1F0F5}"/>
              </a:ext>
            </a:extLst>
          </p:cNvPr>
          <p:cNvSpPr txBox="1"/>
          <p:nvPr/>
        </p:nvSpPr>
        <p:spPr>
          <a:xfrm>
            <a:off x="172720" y="40640"/>
            <a:ext cx="2123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/>
              <a:t>Личные данные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C375A-F8F5-4661-B1FC-8B88A6BC5116}"/>
              </a:ext>
            </a:extLst>
          </p:cNvPr>
          <p:cNvSpPr txBox="1"/>
          <p:nvPr/>
        </p:nvSpPr>
        <p:spPr>
          <a:xfrm>
            <a:off x="172720" y="409972"/>
            <a:ext cx="26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Фамилия Имя Отчество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1AF21-2999-49AF-9DAB-5B6257935323}"/>
              </a:ext>
            </a:extLst>
          </p:cNvPr>
          <p:cNvSpPr txBox="1"/>
          <p:nvPr/>
        </p:nvSpPr>
        <p:spPr>
          <a:xfrm>
            <a:off x="186470" y="3617638"/>
            <a:ext cx="1255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Кем выдан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EA019F-995A-40C0-926B-3C8F89F90F46}"/>
              </a:ext>
            </a:extLst>
          </p:cNvPr>
          <p:cNvSpPr txBox="1"/>
          <p:nvPr/>
        </p:nvSpPr>
        <p:spPr>
          <a:xfrm>
            <a:off x="210593" y="765414"/>
            <a:ext cx="193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Дата рождения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462CE-865E-4D69-BA46-C737E1A31EB0}"/>
              </a:ext>
            </a:extLst>
          </p:cNvPr>
          <p:cNvSpPr txBox="1"/>
          <p:nvPr/>
        </p:nvSpPr>
        <p:spPr>
          <a:xfrm>
            <a:off x="152407" y="3205768"/>
            <a:ext cx="225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Паспортные данные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54E1E7-CFC8-44A8-A939-2214E28498E9}"/>
              </a:ext>
            </a:extLst>
          </p:cNvPr>
          <p:cNvSpPr txBox="1"/>
          <p:nvPr/>
        </p:nvSpPr>
        <p:spPr>
          <a:xfrm>
            <a:off x="624845" y="6398580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accent1"/>
                </a:solidFill>
              </a:rPr>
              <a:t>паспорт</a:t>
            </a:r>
          </a:p>
        </p:txBody>
      </p:sp>
      <p:sp>
        <p:nvSpPr>
          <p:cNvPr id="14" name="Управляющая кнопка: &quot;Пустой&quot; 1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3ECE5B6-4AAF-4DBC-8CF8-43D8EB2379B4}"/>
              </a:ext>
            </a:extLst>
          </p:cNvPr>
          <p:cNvSpPr/>
          <p:nvPr/>
        </p:nvSpPr>
        <p:spPr>
          <a:xfrm flipV="1">
            <a:off x="128301" y="2573677"/>
            <a:ext cx="111765" cy="95568"/>
          </a:xfrm>
          <a:prstGeom prst="actionButtonBlank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7" name="Управляющая кнопка: документ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DACEF7A-80A6-481B-BFDC-84DB993CBEF5}"/>
              </a:ext>
            </a:extLst>
          </p:cNvPr>
          <p:cNvSpPr/>
          <p:nvPr/>
        </p:nvSpPr>
        <p:spPr>
          <a:xfrm>
            <a:off x="192960" y="6452346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6B673-8A53-4DAD-9739-E25339AAF73A}"/>
              </a:ext>
            </a:extLst>
          </p:cNvPr>
          <p:cNvSpPr txBox="1"/>
          <p:nvPr/>
        </p:nvSpPr>
        <p:spPr>
          <a:xfrm>
            <a:off x="3322271" y="6433990"/>
            <a:ext cx="693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chemeClr val="accent1"/>
                </a:solidFill>
              </a:rPr>
              <a:t>анкета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47A96B-34B1-4F41-B418-50A0402A6919}"/>
              </a:ext>
            </a:extLst>
          </p:cNvPr>
          <p:cNvSpPr txBox="1"/>
          <p:nvPr/>
        </p:nvSpPr>
        <p:spPr>
          <a:xfrm>
            <a:off x="1829917" y="6433990"/>
            <a:ext cx="100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accent1"/>
                </a:solidFill>
              </a:rPr>
              <a:t>согласие</a:t>
            </a:r>
          </a:p>
        </p:txBody>
      </p:sp>
      <p:sp>
        <p:nvSpPr>
          <p:cNvPr id="22" name="Управляющая кнопка: документ 2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ACE70EC-0833-4C6D-814A-F49BDB661303}"/>
              </a:ext>
            </a:extLst>
          </p:cNvPr>
          <p:cNvSpPr/>
          <p:nvPr/>
        </p:nvSpPr>
        <p:spPr>
          <a:xfrm>
            <a:off x="1510925" y="6462665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6FBC5-C79C-44BF-AE6A-30EC0D92C358}"/>
              </a:ext>
            </a:extLst>
          </p:cNvPr>
          <p:cNvSpPr txBox="1"/>
          <p:nvPr/>
        </p:nvSpPr>
        <p:spPr>
          <a:xfrm>
            <a:off x="172720" y="4061007"/>
            <a:ext cx="1577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Дата выдачи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B48B27-0874-4EAB-A330-B44A0754234A}"/>
              </a:ext>
            </a:extLst>
          </p:cNvPr>
          <p:cNvSpPr txBox="1"/>
          <p:nvPr/>
        </p:nvSpPr>
        <p:spPr>
          <a:xfrm>
            <a:off x="291408" y="2389011"/>
            <a:ext cx="117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Резидент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176EB8-3C1E-4FFB-AC78-09B338DDD407}"/>
              </a:ext>
            </a:extLst>
          </p:cNvPr>
          <p:cNvSpPr txBox="1"/>
          <p:nvPr/>
        </p:nvSpPr>
        <p:spPr>
          <a:xfrm>
            <a:off x="71540" y="1555318"/>
            <a:ext cx="6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  Пол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E373D-868C-4879-AFEF-AB7836832D0D}"/>
              </a:ext>
            </a:extLst>
          </p:cNvPr>
          <p:cNvSpPr txBox="1"/>
          <p:nvPr/>
        </p:nvSpPr>
        <p:spPr>
          <a:xfrm>
            <a:off x="94504" y="1986679"/>
            <a:ext cx="167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 Гражданство: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701855-475B-4315-B0D7-001C785F29DB}"/>
              </a:ext>
            </a:extLst>
          </p:cNvPr>
          <p:cNvSpPr txBox="1"/>
          <p:nvPr/>
        </p:nvSpPr>
        <p:spPr>
          <a:xfrm>
            <a:off x="140720" y="4550563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 ИНН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020FDE-DA4D-4A8E-A6C3-B9639E0FB758}"/>
              </a:ext>
            </a:extLst>
          </p:cNvPr>
          <p:cNvSpPr txBox="1"/>
          <p:nvPr/>
        </p:nvSpPr>
        <p:spPr>
          <a:xfrm>
            <a:off x="128301" y="5978063"/>
            <a:ext cx="2661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Количество иждивенцев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37AF8-4ED0-4BF4-9637-353D408FC705}"/>
              </a:ext>
            </a:extLst>
          </p:cNvPr>
          <p:cNvSpPr txBox="1"/>
          <p:nvPr/>
        </p:nvSpPr>
        <p:spPr>
          <a:xfrm>
            <a:off x="7010145" y="821562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Адрес регистрации:</a:t>
            </a:r>
          </a:p>
        </p:txBody>
      </p:sp>
      <p:sp>
        <p:nvSpPr>
          <p:cNvPr id="37" name="Управляющая кнопка: &quot;Пустой&quot; 3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3E873EB-ED3E-46DE-BBBF-BBC4CA9A7177}"/>
              </a:ext>
            </a:extLst>
          </p:cNvPr>
          <p:cNvSpPr/>
          <p:nvPr/>
        </p:nvSpPr>
        <p:spPr>
          <a:xfrm flipV="1">
            <a:off x="115452" y="5563676"/>
            <a:ext cx="124614" cy="131415"/>
          </a:xfrm>
          <a:prstGeom prst="actionButtonBlank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1E0015-779C-48A3-A45B-F68851DAEC87}"/>
              </a:ext>
            </a:extLst>
          </p:cNvPr>
          <p:cNvSpPr txBox="1"/>
          <p:nvPr/>
        </p:nvSpPr>
        <p:spPr>
          <a:xfrm>
            <a:off x="0" y="1162908"/>
            <a:ext cx="196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  Место рождения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5E31A1-EE00-47F6-B8A0-BC6C337B90C4}"/>
              </a:ext>
            </a:extLst>
          </p:cNvPr>
          <p:cNvSpPr txBox="1"/>
          <p:nvPr/>
        </p:nvSpPr>
        <p:spPr>
          <a:xfrm>
            <a:off x="54195" y="5021898"/>
            <a:ext cx="2509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 Семейное положение: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F2E8A6-555A-4DF0-9592-DF2B8A5E08EF}"/>
              </a:ext>
            </a:extLst>
          </p:cNvPr>
          <p:cNvSpPr txBox="1"/>
          <p:nvPr/>
        </p:nvSpPr>
        <p:spPr>
          <a:xfrm>
            <a:off x="240857" y="5494742"/>
            <a:ext cx="286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Согласие супруга на сделку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3416E5-3D04-4DBD-9561-1D12E5616D3F}"/>
              </a:ext>
            </a:extLst>
          </p:cNvPr>
          <p:cNvSpPr txBox="1"/>
          <p:nvPr/>
        </p:nvSpPr>
        <p:spPr>
          <a:xfrm>
            <a:off x="6925764" y="407987"/>
            <a:ext cx="231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Мобильный телефон: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4E8A47-B240-4AB6-892C-80CC4E4E938F}"/>
              </a:ext>
            </a:extLst>
          </p:cNvPr>
          <p:cNvSpPr txBox="1"/>
          <p:nvPr/>
        </p:nvSpPr>
        <p:spPr>
          <a:xfrm>
            <a:off x="5340538" y="41807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EEC86173-57A8-4557-A3A4-EC5B275A8C63}"/>
              </a:ext>
            </a:extLst>
          </p:cNvPr>
          <p:cNvSpPr/>
          <p:nvPr/>
        </p:nvSpPr>
        <p:spPr>
          <a:xfrm>
            <a:off x="911825" y="1560403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мужской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4C139DB0-4197-402A-B9E5-9730F0C6D73F}"/>
              </a:ext>
            </a:extLst>
          </p:cNvPr>
          <p:cNvSpPr/>
          <p:nvPr/>
        </p:nvSpPr>
        <p:spPr>
          <a:xfrm>
            <a:off x="2070053" y="1183369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Г. Москва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6A7D05E-B526-4A6D-872A-2FFF3861FEAC}"/>
              </a:ext>
            </a:extLst>
          </p:cNvPr>
          <p:cNvSpPr/>
          <p:nvPr/>
        </p:nvSpPr>
        <p:spPr>
          <a:xfrm>
            <a:off x="2032172" y="807856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01.01.1991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F82B8E9F-F8DD-4F3C-8BB3-083BE9A4A604}"/>
              </a:ext>
            </a:extLst>
          </p:cNvPr>
          <p:cNvSpPr/>
          <p:nvPr/>
        </p:nvSpPr>
        <p:spPr>
          <a:xfrm>
            <a:off x="2626754" y="450422"/>
            <a:ext cx="2737098" cy="2988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Иванов Иван Иванович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9033D76D-1E9C-45E2-8FD1-1F9172D6E735}"/>
              </a:ext>
            </a:extLst>
          </p:cNvPr>
          <p:cNvSpPr/>
          <p:nvPr/>
        </p:nvSpPr>
        <p:spPr>
          <a:xfrm>
            <a:off x="1723946" y="1994352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РФ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E6A5506E-D99D-43CC-BCAF-D225B8FAAA6D}"/>
              </a:ext>
            </a:extLst>
          </p:cNvPr>
          <p:cNvSpPr/>
          <p:nvPr/>
        </p:nvSpPr>
        <p:spPr>
          <a:xfrm>
            <a:off x="2369759" y="3254634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4501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</a:rPr>
              <a:t>111111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12C9DB5-6517-4662-971E-24D3612E0B12}"/>
              </a:ext>
            </a:extLst>
          </p:cNvPr>
          <p:cNvSpPr/>
          <p:nvPr/>
        </p:nvSpPr>
        <p:spPr>
          <a:xfrm>
            <a:off x="1582104" y="3723077"/>
            <a:ext cx="3711245" cy="27862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ГУ МВД России по городу Москва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D67A2B39-7F94-4988-8B76-FF9A99F85429}"/>
              </a:ext>
            </a:extLst>
          </p:cNvPr>
          <p:cNvSpPr/>
          <p:nvPr/>
        </p:nvSpPr>
        <p:spPr>
          <a:xfrm>
            <a:off x="1678782" y="4080125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01.01.2001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77FF18E-7C24-42B0-8C76-E9C31D9DE21E}"/>
              </a:ext>
            </a:extLst>
          </p:cNvPr>
          <p:cNvSpPr/>
          <p:nvPr/>
        </p:nvSpPr>
        <p:spPr>
          <a:xfrm>
            <a:off x="1684280" y="4566786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7700223344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F1EC9AE6-2787-42F4-A139-0F537645668E}"/>
              </a:ext>
            </a:extLst>
          </p:cNvPr>
          <p:cNvSpPr/>
          <p:nvPr/>
        </p:nvSpPr>
        <p:spPr>
          <a:xfrm>
            <a:off x="2447402" y="5087165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женат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6D2638EE-F329-4D10-B621-4B6CE7F019BF}"/>
              </a:ext>
            </a:extLst>
          </p:cNvPr>
          <p:cNvSpPr/>
          <p:nvPr/>
        </p:nvSpPr>
        <p:spPr>
          <a:xfrm>
            <a:off x="2853732" y="6032579"/>
            <a:ext cx="1912693" cy="27862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42F6E5F8-322B-4877-9DEC-24C38D55936A}"/>
              </a:ext>
            </a:extLst>
          </p:cNvPr>
          <p:cNvSpPr/>
          <p:nvPr/>
        </p:nvSpPr>
        <p:spPr>
          <a:xfrm>
            <a:off x="7054193" y="2204344"/>
            <a:ext cx="4225982" cy="369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Москва, Ушакова, 5, 12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562444CF-ADED-47C6-B7FF-803CFADFCEE3}"/>
              </a:ext>
            </a:extLst>
          </p:cNvPr>
          <p:cNvSpPr/>
          <p:nvPr/>
        </p:nvSpPr>
        <p:spPr>
          <a:xfrm>
            <a:off x="9316431" y="455078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8 920 111-11-11</a:t>
            </a:r>
            <a:endParaRPr lang="ru-RU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9EB9DC-03DC-4DCC-8F22-CFB22F38B473}"/>
              </a:ext>
            </a:extLst>
          </p:cNvPr>
          <p:cNvSpPr txBox="1"/>
          <p:nvPr/>
        </p:nvSpPr>
        <p:spPr>
          <a:xfrm>
            <a:off x="134947" y="2767122"/>
            <a:ext cx="192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Вид документа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DDC67B73-5196-4B7C-8CB1-1FAD652BE53E}"/>
              </a:ext>
            </a:extLst>
          </p:cNvPr>
          <p:cNvSpPr/>
          <p:nvPr/>
        </p:nvSpPr>
        <p:spPr>
          <a:xfrm>
            <a:off x="2082920" y="2798272"/>
            <a:ext cx="1770407" cy="2895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Паспорт РФ</a:t>
            </a:r>
          </a:p>
        </p:txBody>
      </p:sp>
      <p:sp>
        <p:nvSpPr>
          <p:cNvPr id="67" name="Управляющая кнопка: документ 6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7C5D0D0-4797-4489-B4FE-BEB79B03E155}"/>
              </a:ext>
            </a:extLst>
          </p:cNvPr>
          <p:cNvSpPr/>
          <p:nvPr/>
        </p:nvSpPr>
        <p:spPr>
          <a:xfrm>
            <a:off x="2853732" y="6448029"/>
            <a:ext cx="365796" cy="282106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2BE3BA-5874-4A83-B11F-45F7F672657E}"/>
              </a:ext>
            </a:extLst>
          </p:cNvPr>
          <p:cNvSpPr txBox="1"/>
          <p:nvPr/>
        </p:nvSpPr>
        <p:spPr>
          <a:xfrm>
            <a:off x="7010145" y="1782827"/>
            <a:ext cx="20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Адрес проживания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E7427DB2-8F1B-4FB6-95FD-DEFD1A58E615}"/>
              </a:ext>
            </a:extLst>
          </p:cNvPr>
          <p:cNvSpPr/>
          <p:nvPr/>
        </p:nvSpPr>
        <p:spPr>
          <a:xfrm>
            <a:off x="7054193" y="1267010"/>
            <a:ext cx="4225982" cy="3693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Москва, Ушакова, 5, 12</a:t>
            </a:r>
          </a:p>
        </p:txBody>
      </p:sp>
    </p:spTree>
    <p:extLst>
      <p:ext uri="{BB962C8B-B14F-4D97-AF65-F5344CB8AC3E}">
        <p14:creationId xmlns:p14="http://schemas.microsoft.com/office/powerpoint/2010/main" val="319102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70CB8B-DC64-47AA-BBB4-3E81E938F891}"/>
              </a:ext>
            </a:extLst>
          </p:cNvPr>
          <p:cNvSpPr txBox="1"/>
          <p:nvPr/>
        </p:nvSpPr>
        <p:spPr>
          <a:xfrm>
            <a:off x="408373" y="257453"/>
            <a:ext cx="1673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Обязательства: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BC5701D-DBBE-452A-87B1-59CB02763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954954"/>
              </p:ext>
            </p:extLst>
          </p:nvPr>
        </p:nvGraphicFramePr>
        <p:xfrm>
          <a:off x="408373" y="710788"/>
          <a:ext cx="11398928" cy="17526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00326">
                  <a:extLst>
                    <a:ext uri="{9D8B030D-6E8A-4147-A177-3AD203B41FA5}">
                      <a16:colId xmlns:a16="http://schemas.microsoft.com/office/drawing/2014/main" val="3728869069"/>
                    </a:ext>
                  </a:extLst>
                </a:gridCol>
                <a:gridCol w="1127464">
                  <a:extLst>
                    <a:ext uri="{9D8B030D-6E8A-4147-A177-3AD203B41FA5}">
                      <a16:colId xmlns:a16="http://schemas.microsoft.com/office/drawing/2014/main" val="3374569536"/>
                    </a:ext>
                  </a:extLst>
                </a:gridCol>
                <a:gridCol w="1242874">
                  <a:extLst>
                    <a:ext uri="{9D8B030D-6E8A-4147-A177-3AD203B41FA5}">
                      <a16:colId xmlns:a16="http://schemas.microsoft.com/office/drawing/2014/main" val="276786793"/>
                    </a:ext>
                  </a:extLst>
                </a:gridCol>
                <a:gridCol w="719091">
                  <a:extLst>
                    <a:ext uri="{9D8B030D-6E8A-4147-A177-3AD203B41FA5}">
                      <a16:colId xmlns:a16="http://schemas.microsoft.com/office/drawing/2014/main" val="1085546363"/>
                    </a:ext>
                  </a:extLst>
                </a:gridCol>
                <a:gridCol w="1216241">
                  <a:extLst>
                    <a:ext uri="{9D8B030D-6E8A-4147-A177-3AD203B41FA5}">
                      <a16:colId xmlns:a16="http://schemas.microsoft.com/office/drawing/2014/main" val="1580714450"/>
                    </a:ext>
                  </a:extLst>
                </a:gridCol>
                <a:gridCol w="1429305">
                  <a:extLst>
                    <a:ext uri="{9D8B030D-6E8A-4147-A177-3AD203B41FA5}">
                      <a16:colId xmlns:a16="http://schemas.microsoft.com/office/drawing/2014/main" val="1691438998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1562569187"/>
                    </a:ext>
                  </a:extLst>
                </a:gridCol>
                <a:gridCol w="781235">
                  <a:extLst>
                    <a:ext uri="{9D8B030D-6E8A-4147-A177-3AD203B41FA5}">
                      <a16:colId xmlns:a16="http://schemas.microsoft.com/office/drawing/2014/main" val="4050975508"/>
                    </a:ext>
                  </a:extLst>
                </a:gridCol>
                <a:gridCol w="674703">
                  <a:extLst>
                    <a:ext uri="{9D8B030D-6E8A-4147-A177-3AD203B41FA5}">
                      <a16:colId xmlns:a16="http://schemas.microsoft.com/office/drawing/2014/main" val="2851050933"/>
                    </a:ext>
                  </a:extLst>
                </a:gridCol>
                <a:gridCol w="1020932">
                  <a:extLst>
                    <a:ext uri="{9D8B030D-6E8A-4147-A177-3AD203B41FA5}">
                      <a16:colId xmlns:a16="http://schemas.microsoft.com/office/drawing/2014/main" val="2431740970"/>
                    </a:ext>
                  </a:extLst>
                </a:gridCol>
                <a:gridCol w="941033">
                  <a:extLst>
                    <a:ext uri="{9D8B030D-6E8A-4147-A177-3AD203B41FA5}">
                      <a16:colId xmlns:a16="http://schemas.microsoft.com/office/drawing/2014/main" val="31700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Рефинансируемая ссуда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Категория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Исходная сумма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Валюта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Платеж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Текущий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Дата выдачи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Дата погашения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Кредит ТКБ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Закрытие до сделки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Подтверждение погашения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56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Ипотека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err="1"/>
                        <a:t>руб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65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К/карта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530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936374"/>
                  </a:ext>
                </a:extLst>
              </a:tr>
            </a:tbl>
          </a:graphicData>
        </a:graphic>
      </p:graphicFrame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5EF6FB0-EFCF-4425-BB26-3D6E3F147D44}"/>
              </a:ext>
            </a:extLst>
          </p:cNvPr>
          <p:cNvSpPr/>
          <p:nvPr/>
        </p:nvSpPr>
        <p:spPr>
          <a:xfrm>
            <a:off x="1056443" y="1429304"/>
            <a:ext cx="177554" cy="17755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E50FAB-E299-4AF9-A116-F0BDDEE0CB8C}"/>
              </a:ext>
            </a:extLst>
          </p:cNvPr>
          <p:cNvSpPr/>
          <p:nvPr/>
        </p:nvSpPr>
        <p:spPr>
          <a:xfrm>
            <a:off x="1056443" y="1848691"/>
            <a:ext cx="177554" cy="1864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03128-92D0-407C-A82F-8C9D91B7868A}"/>
              </a:ext>
            </a:extLst>
          </p:cNvPr>
          <p:cNvSpPr txBox="1"/>
          <p:nvPr/>
        </p:nvSpPr>
        <p:spPr>
          <a:xfrm>
            <a:off x="361246" y="3122452"/>
            <a:ext cx="1342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Отчеты БКИ</a:t>
            </a:r>
          </a:p>
        </p:txBody>
      </p:sp>
      <p:sp>
        <p:nvSpPr>
          <p:cNvPr id="18" name="Управляющая кнопка: документ 1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BC37B12-FB7A-4DE8-900D-BE617DB53587}"/>
              </a:ext>
            </a:extLst>
          </p:cNvPr>
          <p:cNvSpPr/>
          <p:nvPr/>
        </p:nvSpPr>
        <p:spPr>
          <a:xfrm>
            <a:off x="1823407" y="3181904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Управляющая кнопка: документ 1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C41367B-D4B9-400C-BEF0-657EA97CA7C0}"/>
              </a:ext>
            </a:extLst>
          </p:cNvPr>
          <p:cNvSpPr/>
          <p:nvPr/>
        </p:nvSpPr>
        <p:spPr>
          <a:xfrm>
            <a:off x="2807523" y="3178572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Управляющая кнопка: документ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E30D87F-7251-44C8-91C4-2FFEA625057C}"/>
              </a:ext>
            </a:extLst>
          </p:cNvPr>
          <p:cNvSpPr/>
          <p:nvPr/>
        </p:nvSpPr>
        <p:spPr>
          <a:xfrm>
            <a:off x="2320102" y="3182108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Управляющая кнопка: документ 2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8665913-A291-4B5E-8669-61A98B4ADC05}"/>
              </a:ext>
            </a:extLst>
          </p:cNvPr>
          <p:cNvSpPr/>
          <p:nvPr/>
        </p:nvSpPr>
        <p:spPr>
          <a:xfrm>
            <a:off x="3268998" y="3178572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Управляющая кнопка: документ 2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B89F135-0D7F-44D2-B015-151F7AAEB17E}"/>
              </a:ext>
            </a:extLst>
          </p:cNvPr>
          <p:cNvSpPr/>
          <p:nvPr/>
        </p:nvSpPr>
        <p:spPr>
          <a:xfrm>
            <a:off x="3751416" y="3178572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502249-2768-43C3-A1F0-53D00E81A9A1}"/>
              </a:ext>
            </a:extLst>
          </p:cNvPr>
          <p:cNvSpPr txBox="1"/>
          <p:nvPr/>
        </p:nvSpPr>
        <p:spPr>
          <a:xfrm>
            <a:off x="408373" y="2680713"/>
            <a:ext cx="5060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Наш комментарий по обязательствам (подтверждены/не подтверждены):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E225E0F-EBC3-4F8A-B06B-11CD4CDC4E74}"/>
              </a:ext>
            </a:extLst>
          </p:cNvPr>
          <p:cNvSpPr/>
          <p:nvPr/>
        </p:nvSpPr>
        <p:spPr>
          <a:xfrm>
            <a:off x="5592931" y="2770938"/>
            <a:ext cx="6214370" cy="1867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09BD6-B8D5-4CBD-B394-5CCF52E08738}"/>
              </a:ext>
            </a:extLst>
          </p:cNvPr>
          <p:cNvSpPr txBox="1"/>
          <p:nvPr/>
        </p:nvSpPr>
        <p:spPr>
          <a:xfrm>
            <a:off x="361246" y="3660080"/>
            <a:ext cx="984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Скоринг</a:t>
            </a:r>
          </a:p>
        </p:txBody>
      </p:sp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CF7A8119-B0C5-4462-BDA9-9F4B3F12E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809222"/>
              </p:ext>
            </p:extLst>
          </p:nvPr>
        </p:nvGraphicFramePr>
        <p:xfrm>
          <a:off x="213064" y="4029412"/>
          <a:ext cx="11833934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81">
                  <a:extLst>
                    <a:ext uri="{9D8B030D-6E8A-4147-A177-3AD203B41FA5}">
                      <a16:colId xmlns:a16="http://schemas.microsoft.com/office/drawing/2014/main" val="1281619245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3564715992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1437451980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1303540614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3856010647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352139501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1884054976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96139573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4094692096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1902247347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2561458497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3169299013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3539593504"/>
                    </a:ext>
                  </a:extLst>
                </a:gridCol>
                <a:gridCol w="845281">
                  <a:extLst>
                    <a:ext uri="{9D8B030D-6E8A-4147-A177-3AD203B41FA5}">
                      <a16:colId xmlns:a16="http://schemas.microsoft.com/office/drawing/2014/main" val="304065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Резолюция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Совокупная сумма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Сумма кредита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Срок (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</a:rPr>
                        <a:t>мес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Платеж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К/З (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</a:rPr>
                        <a:t>неокругл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ПД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ПДН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Чистый доход в рублях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Уровень риска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Дата решения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Подтверждено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680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935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169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110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4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ru-RU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15215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DA2ED47-0371-46A2-86D1-115B01E2FA38}"/>
              </a:ext>
            </a:extLst>
          </p:cNvPr>
          <p:cNvSpPr txBox="1"/>
          <p:nvPr/>
        </p:nvSpPr>
        <p:spPr>
          <a:xfrm>
            <a:off x="7721600" y="3575932"/>
            <a:ext cx="2121671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Повторный скоринг</a:t>
            </a:r>
          </a:p>
        </p:txBody>
      </p:sp>
    </p:spTree>
    <p:extLst>
      <p:ext uri="{BB962C8B-B14F-4D97-AF65-F5344CB8AC3E}">
        <p14:creationId xmlns:p14="http://schemas.microsoft.com/office/powerpoint/2010/main" val="253790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943603-86F9-4C94-9B0F-02996B6CA77F}"/>
              </a:ext>
            </a:extLst>
          </p:cNvPr>
          <p:cNvSpPr txBox="1"/>
          <p:nvPr/>
        </p:nvSpPr>
        <p:spPr>
          <a:xfrm>
            <a:off x="629920" y="1167646"/>
            <a:ext cx="126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Должность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5BDB5-BABC-44C2-9410-4F0081DCA59D}"/>
              </a:ext>
            </a:extLst>
          </p:cNvPr>
          <p:cNvSpPr txBox="1"/>
          <p:nvPr/>
        </p:nvSpPr>
        <p:spPr>
          <a:xfrm>
            <a:off x="375920" y="189468"/>
            <a:ext cx="418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1" dirty="0"/>
              <a:t>Данные о трудоустройстве и доходах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0029C-05AD-4EF0-98AB-421155C9B1A6}"/>
              </a:ext>
            </a:extLst>
          </p:cNvPr>
          <p:cNvSpPr txBox="1"/>
          <p:nvPr/>
        </p:nvSpPr>
        <p:spPr>
          <a:xfrm>
            <a:off x="629920" y="1655187"/>
            <a:ext cx="325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Стаж на текущем месте работы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11C3A-C8A5-4443-8873-0DC42F20AE11}"/>
              </a:ext>
            </a:extLst>
          </p:cNvPr>
          <p:cNvSpPr txBox="1"/>
          <p:nvPr/>
        </p:nvSpPr>
        <p:spPr>
          <a:xfrm>
            <a:off x="629920" y="2121793"/>
            <a:ext cx="1939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ИНН организации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89311-AF65-4295-9C27-69B9736C47E4}"/>
              </a:ext>
            </a:extLst>
          </p:cNvPr>
          <p:cNvSpPr txBox="1"/>
          <p:nvPr/>
        </p:nvSpPr>
        <p:spPr>
          <a:xfrm>
            <a:off x="555227" y="3129595"/>
            <a:ext cx="189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Рабочий телефон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1D91A5-49D8-484C-8EAB-743C4B7BBA12}"/>
              </a:ext>
            </a:extLst>
          </p:cNvPr>
          <p:cNvSpPr txBox="1"/>
          <p:nvPr/>
        </p:nvSpPr>
        <p:spPr>
          <a:xfrm>
            <a:off x="549769" y="2622681"/>
            <a:ext cx="2175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Адрес места работы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EFF31-C0CF-4957-9BDF-AB910B81E012}"/>
              </a:ext>
            </a:extLst>
          </p:cNvPr>
          <p:cNvSpPr txBox="1"/>
          <p:nvPr/>
        </p:nvSpPr>
        <p:spPr>
          <a:xfrm>
            <a:off x="166094" y="3730222"/>
            <a:ext cx="96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1" dirty="0"/>
              <a:t>Доходы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D04E88-73E9-4507-82E8-7E78576AD627}"/>
              </a:ext>
            </a:extLst>
          </p:cNvPr>
          <p:cNvSpPr txBox="1"/>
          <p:nvPr/>
        </p:nvSpPr>
        <p:spPr>
          <a:xfrm>
            <a:off x="540738" y="4707652"/>
            <a:ext cx="273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Ежемесячная сумма в </a:t>
            </a:r>
            <a:r>
              <a:rPr lang="ru-RU" dirty="0" err="1"/>
              <a:t>руб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DE66D-94A1-41FC-8FE4-0C4917AA0AA9}"/>
              </a:ext>
            </a:extLst>
          </p:cNvPr>
          <p:cNvSpPr txBox="1"/>
          <p:nvPr/>
        </p:nvSpPr>
        <p:spPr>
          <a:xfrm>
            <a:off x="540738" y="5181600"/>
            <a:ext cx="265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Тип документа о доходах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941F5-82AE-45B9-B9BA-220B456B3A6D}"/>
              </a:ext>
            </a:extLst>
          </p:cNvPr>
          <p:cNvSpPr txBox="1"/>
          <p:nvPr/>
        </p:nvSpPr>
        <p:spPr>
          <a:xfrm>
            <a:off x="529003" y="5724648"/>
            <a:ext cx="2522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Дополнительный доход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1D8F76-87F5-4D62-AF51-C8EC2100DC59}"/>
              </a:ext>
            </a:extLst>
          </p:cNvPr>
          <p:cNvSpPr txBox="1"/>
          <p:nvPr/>
        </p:nvSpPr>
        <p:spPr>
          <a:xfrm>
            <a:off x="629920" y="748268"/>
            <a:ext cx="2554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/>
              <a:t>Основное место работы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7C28AC-6BA3-4140-BA63-CF7407A177EF}"/>
              </a:ext>
            </a:extLst>
          </p:cNvPr>
          <p:cNvSpPr txBox="1"/>
          <p:nvPr/>
        </p:nvSpPr>
        <p:spPr>
          <a:xfrm>
            <a:off x="529003" y="4188824"/>
            <a:ext cx="3342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З/П по основному месту работы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D25982-15BA-49B4-93D9-D28A87FD5A60}"/>
              </a:ext>
            </a:extLst>
          </p:cNvPr>
          <p:cNvSpPr txBox="1"/>
          <p:nvPr/>
        </p:nvSpPr>
        <p:spPr>
          <a:xfrm>
            <a:off x="5506720" y="646668"/>
            <a:ext cx="1969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Совместительство</a:t>
            </a:r>
          </a:p>
        </p:txBody>
      </p:sp>
      <p:sp>
        <p:nvSpPr>
          <p:cNvPr id="20" name="Управляющая кнопка: документ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FFEBCB6-2BCA-4C9E-9407-51848410AD65}"/>
              </a:ext>
            </a:extLst>
          </p:cNvPr>
          <p:cNvSpPr/>
          <p:nvPr/>
        </p:nvSpPr>
        <p:spPr>
          <a:xfrm>
            <a:off x="9143920" y="5241052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4F30BAD-6745-4C2A-A995-C1F373E163AD}"/>
              </a:ext>
            </a:extLst>
          </p:cNvPr>
          <p:cNvSpPr/>
          <p:nvPr/>
        </p:nvSpPr>
        <p:spPr>
          <a:xfrm>
            <a:off x="3888825" y="4425130"/>
            <a:ext cx="3421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Справка по форме другого банка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CD77AB7-AA90-4CC9-95A2-A4BD33721604}"/>
              </a:ext>
            </a:extLst>
          </p:cNvPr>
          <p:cNvSpPr/>
          <p:nvPr/>
        </p:nvSpPr>
        <p:spPr>
          <a:xfrm>
            <a:off x="3427577" y="5202813"/>
            <a:ext cx="3231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Сведения о </a:t>
            </a:r>
            <a:r>
              <a:rPr lang="ru-RU" dirty="0" err="1"/>
              <a:t>состоян</a:t>
            </a:r>
            <a:r>
              <a:rPr lang="ru-RU" dirty="0"/>
              <a:t>. ИЛС (СФР)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2327F91-8220-4721-A716-1A8F135F36D8}"/>
              </a:ext>
            </a:extLst>
          </p:cNvPr>
          <p:cNvSpPr/>
          <p:nvPr/>
        </p:nvSpPr>
        <p:spPr>
          <a:xfrm>
            <a:off x="4078495" y="3477434"/>
            <a:ext cx="5216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Справка КНД 1175018 (2НДФЛ) в свободной форме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13B8DFE-EC7F-474B-B39A-5F6A4CA049B1}"/>
              </a:ext>
            </a:extLst>
          </p:cNvPr>
          <p:cNvSpPr/>
          <p:nvPr/>
        </p:nvSpPr>
        <p:spPr>
          <a:xfrm>
            <a:off x="3677838" y="4811954"/>
            <a:ext cx="298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Справка в свободной форме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18FC121-3E72-4B4B-856B-32EE9845531A}"/>
              </a:ext>
            </a:extLst>
          </p:cNvPr>
          <p:cNvSpPr/>
          <p:nvPr/>
        </p:nvSpPr>
        <p:spPr>
          <a:xfrm>
            <a:off x="4041912" y="4016779"/>
            <a:ext cx="2617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Справка по форме банка</a:t>
            </a:r>
          </a:p>
        </p:txBody>
      </p:sp>
      <p:sp>
        <p:nvSpPr>
          <p:cNvPr id="27" name="Управляющая кнопка: документ 2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3976B3A-3EB8-4F87-92AF-FB150143CACE}"/>
              </a:ext>
            </a:extLst>
          </p:cNvPr>
          <p:cNvSpPr/>
          <p:nvPr/>
        </p:nvSpPr>
        <p:spPr>
          <a:xfrm>
            <a:off x="9631600" y="5262265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Управляющая кнопка: документ 2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01C4D95-1FE1-4C61-9EB6-676182858F94}"/>
              </a:ext>
            </a:extLst>
          </p:cNvPr>
          <p:cNvSpPr/>
          <p:nvPr/>
        </p:nvSpPr>
        <p:spPr>
          <a:xfrm>
            <a:off x="10119280" y="5241052"/>
            <a:ext cx="303032" cy="250428"/>
          </a:xfrm>
          <a:prstGeom prst="actionButton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1067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380</Words>
  <Application>Microsoft Office PowerPoint</Application>
  <PresentationFormat>Широкоэкранный</PresentationFormat>
  <Paragraphs>125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Пешалова Ольга Юрьевна</dc:creator>
  <cp:lastModifiedBy>Пешалова Ольга Юрьевна</cp:lastModifiedBy>
  <cp:revision>31</cp:revision>
  <dcterms:created xsi:type="dcterms:W3CDTF">2025-11-30T13:30:48Z</dcterms:created>
  <dcterms:modified xsi:type="dcterms:W3CDTF">2025-12-06T16:55:34Z</dcterms:modified>
</cp:coreProperties>
</file>